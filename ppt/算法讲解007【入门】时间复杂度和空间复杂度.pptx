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60"/>
    <p:restoredTop sz="94688"/>
  </p:normalViewPr>
  <p:slideViewPr>
    <p:cSldViewPr snapToGrid="0">
      <p:cViewPr>
        <p:scale>
          <a:sx n="40" d="100"/>
          <a:sy n="40" d="100"/>
        </p:scale>
        <p:origin x="144" y="2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800">
              <a:lnSpc>
                <a:spcPct val="90000"/>
              </a:lnSpc>
              <a:defRPr sz="8800" b="0" spc="0">
                <a:latin typeface="等线 Light"/>
                <a:ea typeface="等线 Light"/>
                <a:cs typeface="等线 Light"/>
                <a:sym typeface="等线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lIns="91439" tIns="91439" rIns="91439" bIns="91439"/>
          <a:lstStyle>
            <a:lvl1pPr marL="457200" indent="-457200" defTabSz="1828800">
              <a:spcBef>
                <a:spcPts val="2000"/>
              </a:spcBef>
              <a:buSzPct val="100000"/>
              <a:buFont typeface="Arial"/>
              <a:defRPr sz="5600">
                <a:latin typeface="等线"/>
                <a:ea typeface="等线"/>
                <a:cs typeface="等线"/>
                <a:sym typeface="等线"/>
              </a:defRPr>
            </a:lvl1pPr>
            <a:lvl2pPr marL="990600" indent="-533400" defTabSz="1828800">
              <a:spcBef>
                <a:spcPts val="2000"/>
              </a:spcBef>
              <a:buSzPct val="100000"/>
              <a:buFont typeface="Arial"/>
              <a:defRPr sz="5600">
                <a:latin typeface="等线"/>
                <a:ea typeface="等线"/>
                <a:cs typeface="等线"/>
                <a:sym typeface="等线"/>
              </a:defRPr>
            </a:lvl2pPr>
            <a:lvl3pPr marL="1554479" indent="-640079" defTabSz="1828800">
              <a:spcBef>
                <a:spcPts val="2000"/>
              </a:spcBef>
              <a:buSzPct val="100000"/>
              <a:buFont typeface="Arial"/>
              <a:defRPr sz="5600">
                <a:latin typeface="等线"/>
                <a:ea typeface="等线"/>
                <a:cs typeface="等线"/>
                <a:sym typeface="等线"/>
              </a:defRPr>
            </a:lvl3pPr>
            <a:lvl4pPr marL="2082800" indent="-711200" defTabSz="1828800">
              <a:spcBef>
                <a:spcPts val="2000"/>
              </a:spcBef>
              <a:buSzPct val="100000"/>
              <a:buFont typeface="Arial"/>
              <a:defRPr sz="5600">
                <a:latin typeface="等线"/>
                <a:ea typeface="等线"/>
                <a:cs typeface="等线"/>
                <a:sym typeface="等线"/>
              </a:defRPr>
            </a:lvl4pPr>
            <a:lvl5pPr marL="2540000" indent="-711200" defTabSz="1828800">
              <a:spcBef>
                <a:spcPts val="2000"/>
              </a:spcBef>
              <a:buSzPct val="100000"/>
              <a:buFont typeface="Arial"/>
              <a:defRPr sz="5600">
                <a:latin typeface="等线"/>
                <a:ea typeface="等线"/>
                <a:cs typeface="等线"/>
                <a:sym typeface="等线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172989" y="12802235"/>
            <a:ext cx="534611" cy="55118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前置知识：选择排序、冒泡排序、插入排序、等差数列、等比数列…"/>
          <p:cNvSpPr txBox="1">
            <a:spLocks noGrp="1"/>
          </p:cNvSpPr>
          <p:nvPr>
            <p:ph type="body" idx="21"/>
          </p:nvPr>
        </p:nvSpPr>
        <p:spPr>
          <a:xfrm>
            <a:off x="1206499" y="3046147"/>
            <a:ext cx="21971002" cy="17473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 b="0">
                <a:latin typeface="Monaco"/>
                <a:ea typeface="Monaco"/>
                <a:cs typeface="Monaco"/>
                <a:sym typeface="Monaco"/>
              </a:defRPr>
            </a:pPr>
            <a:r>
              <a:t>前置知识：选择排序、冒泡排序、插入排序、等差数列、等比数列</a:t>
            </a:r>
          </a:p>
          <a:p>
            <a:pPr>
              <a:defRPr b="0">
                <a:latin typeface="Monaco"/>
                <a:ea typeface="Monaco"/>
                <a:cs typeface="Monaco"/>
                <a:sym typeface="Monaco"/>
              </a:defRPr>
            </a:pPr>
            <a:r>
              <a:t>建议：不要跳过</a:t>
            </a:r>
          </a:p>
        </p:txBody>
      </p:sp>
      <p:sp>
        <p:nvSpPr>
          <p:cNvPr id="161" name="时间复杂度和空间复杂度"/>
          <p:cNvSpPr txBox="1">
            <a:spLocks noGrp="1"/>
          </p:cNvSpPr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sz="5500" b="0" spc="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时间复杂度和空间复杂度</a:t>
            </a:r>
          </a:p>
        </p:txBody>
      </p:sp>
      <p:sp>
        <p:nvSpPr>
          <p:cNvPr id="162" name="1，常数操作，固定时间的操作，执行时间和数据量无关…"/>
          <p:cNvSpPr txBox="1"/>
          <p:nvPr/>
        </p:nvSpPr>
        <p:spPr>
          <a:xfrm>
            <a:off x="1206499" y="4572391"/>
            <a:ext cx="21971002" cy="7153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1，常数操作，固定时间的操作，执行时间和数据</a:t>
            </a:r>
            <a:r>
              <a:rPr lang="zh-CN" altLang="en-US"/>
              <a:t>值</a:t>
            </a:r>
            <a:r>
              <a:t>无关</a:t>
            </a:r>
            <a:r>
              <a:rPr lang="en-US" altLang="zh-CN"/>
              <a:t>.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zh-CN" altLang="en-US"/>
              <a:t>整数倍数是固定的</a:t>
            </a:r>
            <a:r>
              <a:rPr lang="en-US" altLang="zh-CN"/>
              <a:t>,</a:t>
            </a:r>
            <a:r>
              <a:rPr lang="zh-CN" altLang="en-US"/>
              <a:t>对于</a:t>
            </a:r>
            <a:r>
              <a:rPr lang="en-US" altLang="zh-CN"/>
              <a:t>32</a:t>
            </a:r>
            <a:r>
              <a:rPr lang="zh-CN" altLang="en-US"/>
              <a:t>位的整数</a:t>
            </a:r>
            <a:r>
              <a:rPr lang="en-US" altLang="zh-CN"/>
              <a:t>,</a:t>
            </a:r>
            <a:r>
              <a:rPr lang="zh-CN" altLang="en-US"/>
              <a:t>无论该数值多大</a:t>
            </a:r>
            <a:r>
              <a:rPr lang="en-US" altLang="zh-CN"/>
              <a:t>,</a:t>
            </a:r>
            <a:r>
              <a:rPr lang="zh-CN" altLang="en-US"/>
              <a:t>都需要进行</a:t>
            </a:r>
            <a:r>
              <a:rPr lang="en-US" altLang="zh-CN"/>
              <a:t>32</a:t>
            </a:r>
            <a:r>
              <a:rPr lang="zh-CN" altLang="en-US"/>
              <a:t>位的运算</a:t>
            </a:r>
            <a:r>
              <a:rPr lang="en-US" altLang="zh-CN"/>
              <a:t>.</a:t>
            </a:r>
            <a:endParaRPr/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2，时间复杂度，一个和数据量有关、只要高阶项、不要低阶项、不要常数项的操作次数表达式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举例：选择、冒泡、插入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3，严格固定流程的算法，一定强调最差情况！比如插入排序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4，算法流程上利用随机行为作为重要部分的，要看平均或者期望的时间复杂度，因为最差的时间复杂度无意义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用生成相邻值不同的数组来说明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5，算法流程上利用随机行为作为重要部分的，还有随机快速排序（【必备】课）、跳表（【扩展】课）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也只在乎平均或者期望的时间复杂度，因为最差的时间复杂度无意义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6，时间复杂度的内涵：描述算法运行时间和数据量大小的关系，而且当数据量很大很大时，这种关系相当的本质，并且排除了低阶项、常数时间的干扰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7，空间复杂度，强调额外空间；常数项时间，放弃理论分析、选择用实验来确定，因为不同常数操作的时间不同</a:t>
            </a:r>
          </a:p>
          <a:p>
            <a:pPr algn="l" defTabSz="718184">
              <a:defRPr sz="3132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8，什么叫最优解，先满足时间复杂度最优，然后尽量少用空间的解</a:t>
            </a:r>
          </a:p>
        </p:txBody>
      </p:sp>
      <p:sp>
        <p:nvSpPr>
          <p:cNvPr id="163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左程云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前置知识：选择排序、冒泡排序、插入排序、等差数列…"/>
          <p:cNvSpPr txBox="1">
            <a:spLocks noGrp="1"/>
          </p:cNvSpPr>
          <p:nvPr>
            <p:ph type="body" idx="21"/>
          </p:nvPr>
        </p:nvSpPr>
        <p:spPr>
          <a:xfrm>
            <a:off x="1206499" y="3046147"/>
            <a:ext cx="21971002" cy="17473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 b="0">
                <a:latin typeface="Monaco"/>
                <a:ea typeface="Monaco"/>
                <a:cs typeface="Monaco"/>
                <a:sym typeface="Monaco"/>
              </a:defRPr>
            </a:pPr>
            <a:r>
              <a:t>前置知识：选择排序、冒泡排序、插入排序、等差数列</a:t>
            </a:r>
          </a:p>
          <a:p>
            <a:pPr>
              <a:defRPr b="0">
                <a:latin typeface="Monaco"/>
                <a:ea typeface="Monaco"/>
                <a:cs typeface="Monaco"/>
                <a:sym typeface="Monaco"/>
              </a:defRPr>
            </a:pPr>
            <a:r>
              <a:t>建议：不要跳过</a:t>
            </a:r>
          </a:p>
        </p:txBody>
      </p:sp>
      <p:sp>
        <p:nvSpPr>
          <p:cNvPr id="166" name="时间复杂度和空间复杂度"/>
          <p:cNvSpPr txBox="1">
            <a:spLocks noGrp="1"/>
          </p:cNvSpPr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sz="5500" b="0" spc="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时间复杂度和空间复杂度</a:t>
            </a:r>
          </a:p>
        </p:txBody>
      </p:sp>
      <p:sp>
        <p:nvSpPr>
          <p:cNvPr id="167" name="9，时间复杂度的均摊，用动态数组的扩容来说明（等比数列、均摊的意义）…"/>
          <p:cNvSpPr txBox="1"/>
          <p:nvPr/>
        </p:nvSpPr>
        <p:spPr>
          <a:xfrm>
            <a:off x="1206499" y="4572391"/>
            <a:ext cx="21971002" cy="7153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9，时间复杂度的均摊，用动态数组的扩容来说明（等比数列、均摊的意义）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并查集、单调队列、单调栈、哈希表等结构，均有这个概念。这些内容【必备】课都会讲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10，不要用代码结构来判断时间复杂度，比如只有一个while循环的冒泡排序，其实时间复杂度O(N^2)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11，不要用代码结构来判断时间复杂度，比如：N/1 + N/2 + N/3 + … + N/N，这个流程的时间复杂度是O(N * logN)，著名的调和级数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12，时间复杂度只能是对算法流程充分理解才能分析出来，而不是简单的看代码结构！这是一个常见的错误！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甚至有些算法的实现用了多层循环嵌套，但时间复杂度是O(N)的。在【必备】课程里会经常见到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13，常见复杂度一览：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O(1) O(logN) O(N) O(N*logN) O(N^2) … O(N^k) O(2^N) … O(k^N) … O(N!)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14，时间复杂度非常重要，可以直接判断某个方法能不能通过一个题目，根据数据量猜解法，【必备】课都会讲</a:t>
            </a:r>
          </a:p>
          <a:p>
            <a:pPr algn="l" defTabSz="784225">
              <a:defRPr sz="342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15，整套课会讲很多算法和数据结构，也会见到很多的时间复杂度的表达，持续看课即可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左程云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等差数列求和公式"/>
          <p:cNvSpPr txBox="1">
            <a:spLocks noGrp="1"/>
          </p:cNvSpPr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sz="5500" b="0" spc="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等差数列求和公式</a:t>
            </a:r>
          </a:p>
        </p:txBody>
      </p:sp>
      <p:sp>
        <p:nvSpPr>
          <p:cNvPr id="171" name="S = n / 2 * ( 2 * a1 + (n - 1) * d)…"/>
          <p:cNvSpPr txBox="1"/>
          <p:nvPr/>
        </p:nvSpPr>
        <p:spPr>
          <a:xfrm>
            <a:off x="1206499" y="4572391"/>
            <a:ext cx="21971002" cy="7153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</a:defRPr>
            </a:pPr>
            <a:r>
              <a:t>S = n / 2 * ( 2 * a1 + (n - 1) * d)  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</a:defRPr>
            </a:pPr>
            <a:r>
              <a:t>其中，S 是等差数列的和；n 是项数；a1 是首项；d 是公差。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</a:defRPr>
            </a:pPr>
            <a:r>
              <a:t>也可以认为任何等差数列的都符合：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</a:defRPr>
            </a:pPr>
            <a:r>
              <a:t>a * n平方 + b * n + c，其中a、b、c都是常数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左程云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372</Words>
  <Application>Microsoft Macintosh PowerPoint</Application>
  <PresentationFormat>自定义</PresentationFormat>
  <Paragraphs>35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Arial</vt:lpstr>
      <vt:lpstr>Helvetica Neue</vt:lpstr>
      <vt:lpstr>Helvetica Neue Medium</vt:lpstr>
      <vt:lpstr>Monaco</vt:lpstr>
      <vt:lpstr>21_BasicWhite</vt:lpstr>
      <vt:lpstr>时间复杂度和空间复杂度</vt:lpstr>
      <vt:lpstr>时间复杂度和空间复杂度</vt:lpstr>
      <vt:lpstr>等差数列求和公式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时间复杂度和空间复杂度</dc:title>
  <cp:lastModifiedBy>沙 龙</cp:lastModifiedBy>
  <cp:revision>1</cp:revision>
  <dcterms:modified xsi:type="dcterms:W3CDTF">2025-12-14T04:54:44Z</dcterms:modified>
</cp:coreProperties>
</file>